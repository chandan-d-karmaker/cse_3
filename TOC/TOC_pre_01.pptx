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62" r:id="rId3"/>
    <p:sldId id="263" r:id="rId4"/>
    <p:sldId id="264" r:id="rId5"/>
    <p:sldId id="257" r:id="rId6"/>
    <p:sldId id="258" r:id="rId7"/>
    <p:sldId id="259" r:id="rId8"/>
    <p:sldId id="260" r:id="rId9"/>
    <p:sldId id="261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6247" autoAdjust="0"/>
  </p:normalViewPr>
  <p:slideViewPr>
    <p:cSldViewPr snapToGrid="0">
      <p:cViewPr varScale="1">
        <p:scale>
          <a:sx n="106" d="100"/>
          <a:sy n="106" d="100"/>
        </p:scale>
        <p:origin x="67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F63D0-63A3-C6A6-C948-BA8D7759B2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AED3C8-97F6-806D-40B9-64E464AE2E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52335-7365-1E3B-B8E2-366FDE1D4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01-Feb-26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625BA-2ACC-047B-5747-BBDD35EBE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C7E759-99F1-407D-8D2C-B9D136AFF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05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F661B-8BEE-6C0B-9A34-4518A7681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FE1DC-3DA6-3AF0-D6EB-57490B477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C567C6-F902-CB68-AF4C-0633D2B37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01-Feb-26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279BA-A257-3C0A-85D6-AE04C7ED7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FCD6B8-9AED-B70F-01D8-99FF55B58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133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9E973-5E9C-D30B-BF7A-463012DC7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7473E-1582-2FEB-95F8-341B584585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113EA0-179E-0C73-D40C-A4B60E30B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01-Feb-26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804779-5E62-5D21-6E91-799EC8F9D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EBE51-0065-FF22-9064-214A1956E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516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DA713-84F7-88F4-456E-1867B8197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C83DE-D1F0-1A36-10E6-C5A93E4E65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49F10A-9E3C-C0E9-4C50-88A370B453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833C04-6E68-C736-0FC6-3A59B02A2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01-Feb-26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9117F4-DCBC-C0FA-2472-BD2789F61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208F13-1F0C-A847-FDF3-927A9627E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375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5CDBE-EBB5-3EC9-33DA-AE316DC49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EFC8A5-5BD0-0AE6-89FC-9904E94E33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53619-35F4-CF63-78B6-CEC9103953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0213F5-D53B-57DC-47EB-D912BDD9C5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22D071-8343-0EA7-C8F7-FC48850049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81ADAE-A5C6-3E2F-F055-E4E8D70CC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01-Feb-26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666DEC-63BD-365D-C7CF-DAD93EBC3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4E8A0D-9647-7002-F378-6ACE25D29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421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CFF9F-96A5-23BA-3B6B-BEF93B0A5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E909BB-1F17-D75B-DB9F-253F79D08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01-Feb-26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EFCA32-9A9B-7A60-6207-3504514A7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A804D4-BC37-4B72-56BF-AE7569732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805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CDA11F-82E9-2E1D-F5DD-18B8D7401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01-Feb-26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D04FE1-F515-7019-EEA9-E5B2BD0A0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81349-06F2-04BF-9331-8A37A06C6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005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B1D9E-5E0E-F303-2973-0A67BFB2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8FC91-8DD8-D6BE-AAA6-6AFAEE8AF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778AD2-B443-3C32-493A-F83DBCA95A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5EEBEB-A5AA-E26C-D8CD-AFDDAB97C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01-Feb-26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5D859A-F4E5-2FF5-7DFB-AF3F1787B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46E636-13EE-B563-0E70-3F2679C1D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757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FAF82-948F-D1D7-50A5-720B92ED5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11EF76-2E2D-52B2-5197-96B3080C42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2B6A1B-593C-D1C7-3404-1FFD40546D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5F1E0-984B-84B9-E584-F83157800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01-Feb-26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878644-0583-4FDA-81E2-66ACD3B68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31F71-D24B-727E-BE77-CD15640BF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093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E6355-6E28-F9EF-639A-16D3C923D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BC1C7F-CF6A-D437-1906-AAF84A2944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FA589-84CD-77F0-A1EB-121D465C7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01-Feb-26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F2B25-C89F-FCFA-AF4A-25E56D9C8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B1FB73-A004-9F64-2781-D3951746C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767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DD61F0-1632-68DB-518E-F77F29B579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E51098-4A37-BDCA-FD86-C5D499D613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C4E41-8F94-2DD8-8810-84AB78C53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01-Feb-26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FC666A-2C1A-E22D-9D76-037923CD6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75A4D-5D0D-3AFD-2FCA-D63DBF52B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165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94B0AF-D1DD-E967-382C-3D8D3CB6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0C2209-6EED-C2EF-F5D0-21C369D11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A8FAA-A14D-74F2-D12A-D81E13E40D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01-Feb-26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A4091-9BA9-D47D-9171-A56E9357FE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95665B-F3BF-42CE-CB51-287237F111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893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F5ED4-633B-AE33-C011-A832E03914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850392"/>
            <a:ext cx="12207497" cy="2185416"/>
          </a:xfrm>
        </p:spPr>
        <p:txBody>
          <a:bodyPr anchor="ctr">
            <a:normAutofit/>
          </a:bodyPr>
          <a:lstStyle/>
          <a:p>
            <a:pPr algn="ctr"/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Regular Expressions, Properties of Regular Languages, NFA </a:t>
            </a:r>
            <a:endParaRPr lang="en-US" sz="4800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511130-473F-E3D4-8643-EF85DA0C5A41}"/>
              </a:ext>
            </a:extLst>
          </p:cNvPr>
          <p:cNvSpPr txBox="1"/>
          <p:nvPr/>
        </p:nvSpPr>
        <p:spPr>
          <a:xfrm>
            <a:off x="266229" y="4700016"/>
            <a:ext cx="8755923" cy="20005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</a:t>
            </a: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Chandan Karmaker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ID-12511006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Engineering, 3</a:t>
            </a:r>
            <a:r>
              <a:rPr lang="en-US" sz="2400" b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rd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semester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University of Global Village.</a:t>
            </a:r>
          </a:p>
        </p:txBody>
      </p:sp>
    </p:spTree>
    <p:extLst>
      <p:ext uri="{BB962C8B-B14F-4D97-AF65-F5344CB8AC3E}">
        <p14:creationId xmlns:p14="http://schemas.microsoft.com/office/powerpoint/2010/main" val="28485042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67230-3939-011F-C155-7410E162B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5" y="1088136"/>
            <a:ext cx="10890929" cy="2340864"/>
          </a:xfrm>
        </p:spPr>
        <p:txBody>
          <a:bodyPr>
            <a:norm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Slide 1: Definition of Regular Expression.</a:t>
            </a:r>
            <a:br>
              <a:rPr lang="en-US" sz="4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regular expression describes a language using three operations.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8299A-AA5B-198B-1E53-F91704871C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590" y="3429000"/>
            <a:ext cx="10890928" cy="113394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regular expression (RE) describes a language. It uses the three regular operations. These are called union/or, concatenation and star. Brackets ( and ) are used for grouping, just as in normal math.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544238B-25C5-E368-313A-13E385A705B4}"/>
              </a:ext>
            </a:extLst>
          </p:cNvPr>
          <p:cNvGrpSpPr/>
          <p:nvPr/>
        </p:nvGrpSpPr>
        <p:grpSpPr>
          <a:xfrm>
            <a:off x="90535" y="4878410"/>
            <a:ext cx="12801600" cy="1231463"/>
            <a:chOff x="549347" y="4905571"/>
            <a:chExt cx="13042821" cy="1231463"/>
          </a:xfrm>
        </p:grpSpPr>
        <p:pic>
          <p:nvPicPr>
            <p:cNvPr id="13" name="Image 0" descr="preencoded.png">
              <a:extLst>
                <a:ext uri="{FF2B5EF4-FFF2-40B4-BE49-F238E27FC236}">
                  <a16:creationId xmlns:a16="http://schemas.microsoft.com/office/drawing/2014/main" id="{1C14D062-5079-9688-8D00-A2AB8AA519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49347" y="4905571"/>
              <a:ext cx="566976" cy="566976"/>
            </a:xfrm>
            <a:prstGeom prst="rect">
              <a:avLst/>
            </a:prstGeom>
          </p:spPr>
        </p:pic>
        <p:sp>
          <p:nvSpPr>
            <p:cNvPr id="14" name="Text 2">
              <a:extLst>
                <a:ext uri="{FF2B5EF4-FFF2-40B4-BE49-F238E27FC236}">
                  <a16:creationId xmlns:a16="http://schemas.microsoft.com/office/drawing/2014/main" id="{C0E29D29-5B98-F0A7-0EC6-617951A77C00}"/>
                </a:ext>
              </a:extLst>
            </p:cNvPr>
            <p:cNvSpPr/>
            <p:nvPr/>
          </p:nvSpPr>
          <p:spPr>
            <a:xfrm>
              <a:off x="1399810" y="4905571"/>
              <a:ext cx="1989034" cy="36957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50"/>
                </a:lnSpc>
                <a:buNone/>
              </a:pPr>
              <a:r>
                <a:rPr lang="en-US" sz="2000" b="1" dirty="0">
                  <a:solidFill>
                    <a:srgbClr val="E0D6DE"/>
                  </a:solidFill>
                  <a:latin typeface="Times New Roman" panose="02020603050405020304" pitchFamily="18" charset="0"/>
                  <a:ea typeface="Anton" pitchFamily="34" charset="-122"/>
                  <a:cs typeface="Times New Roman" panose="02020603050405020304" pitchFamily="18" charset="0"/>
                </a:rPr>
                <a:t>Union ( | or + )</a:t>
              </a:r>
              <a:endPara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Text 3">
              <a:extLst>
                <a:ext uri="{FF2B5EF4-FFF2-40B4-BE49-F238E27FC236}">
                  <a16:creationId xmlns:a16="http://schemas.microsoft.com/office/drawing/2014/main" id="{AD25471C-76F3-E94D-61EE-F057B3143C63}"/>
                </a:ext>
              </a:extLst>
            </p:cNvPr>
            <p:cNvSpPr/>
            <p:nvPr/>
          </p:nvSpPr>
          <p:spPr>
            <a:xfrm>
              <a:off x="1399810" y="5411229"/>
              <a:ext cx="3308152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850"/>
                </a:lnSpc>
                <a:buNone/>
              </a:pPr>
              <a:r>
                <a:rPr lang="en-US" sz="2000" b="1" dirty="0">
                  <a:solidFill>
                    <a:srgbClr val="E0D6DE"/>
                  </a:solidFill>
                  <a:latin typeface="Times New Roman" panose="02020603050405020304" pitchFamily="18" charset="0"/>
                  <a:ea typeface="Fira Sans" pitchFamily="34" charset="-122"/>
                  <a:cs typeface="Times New Roman" panose="02020603050405020304" pitchFamily="18" charset="0"/>
                </a:rPr>
                <a:t>Matches one pattern or another.</a:t>
              </a:r>
              <a:endPara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6" name="Image 1" descr="preencoded.png">
              <a:extLst>
                <a:ext uri="{FF2B5EF4-FFF2-40B4-BE49-F238E27FC236}">
                  <a16:creationId xmlns:a16="http://schemas.microsoft.com/office/drawing/2014/main" id="{4137ABBC-1564-B5D6-66EC-F41BD8233F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91450" y="4905571"/>
              <a:ext cx="566976" cy="566976"/>
            </a:xfrm>
            <a:prstGeom prst="rect">
              <a:avLst/>
            </a:prstGeom>
          </p:spPr>
        </p:pic>
        <p:sp>
          <p:nvSpPr>
            <p:cNvPr id="17" name="Text 4">
              <a:extLst>
                <a:ext uri="{FF2B5EF4-FFF2-40B4-BE49-F238E27FC236}">
                  <a16:creationId xmlns:a16="http://schemas.microsoft.com/office/drawing/2014/main" id="{401810CB-F8C7-C928-7F22-E5E6CB4658DF}"/>
                </a:ext>
              </a:extLst>
            </p:cNvPr>
            <p:cNvSpPr/>
            <p:nvPr/>
          </p:nvSpPr>
          <p:spPr>
            <a:xfrm>
              <a:off x="5841913" y="4905571"/>
              <a:ext cx="2835235" cy="36957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50"/>
                </a:lnSpc>
                <a:buNone/>
              </a:pPr>
              <a:r>
                <a:rPr lang="en-US" sz="2000" b="1" dirty="0">
                  <a:solidFill>
                    <a:srgbClr val="E0D6DE"/>
                  </a:solidFill>
                  <a:latin typeface="Times New Roman" panose="02020603050405020304" pitchFamily="18" charset="0"/>
                  <a:ea typeface="Anton" pitchFamily="34" charset="-122"/>
                  <a:cs typeface="Times New Roman" panose="02020603050405020304" pitchFamily="18" charset="0"/>
                </a:rPr>
                <a:t>Concatenation (</a:t>
              </a:r>
              <a:r>
                <a:rPr lang="en-US" sz="2000" b="1" dirty="0">
                  <a:solidFill>
                    <a:srgbClr val="E0D6DE"/>
                  </a:solidFill>
                  <a:highlight>
                    <a:srgbClr val="2C2C2C"/>
                  </a:highlight>
                  <a:latin typeface="Times New Roman" panose="02020603050405020304" pitchFamily="18" charset="0"/>
                  <a:ea typeface="Anton" pitchFamily="34" charset="-122"/>
                  <a:cs typeface="Times New Roman" panose="02020603050405020304" pitchFamily="18" charset="0"/>
                </a:rPr>
                <a:t>.</a:t>
              </a:r>
              <a:r>
                <a:rPr lang="en-US" sz="2000" b="1" dirty="0">
                  <a:solidFill>
                    <a:srgbClr val="E0D6DE"/>
                  </a:solidFill>
                  <a:latin typeface="Times New Roman" panose="02020603050405020304" pitchFamily="18" charset="0"/>
                  <a:ea typeface="Anton" pitchFamily="34" charset="-122"/>
                  <a:cs typeface="Times New Roman" panose="02020603050405020304" pitchFamily="18" charset="0"/>
                </a:rPr>
                <a:t>)</a:t>
              </a:r>
              <a:endPara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 5">
              <a:extLst>
                <a:ext uri="{FF2B5EF4-FFF2-40B4-BE49-F238E27FC236}">
                  <a16:creationId xmlns:a16="http://schemas.microsoft.com/office/drawing/2014/main" id="{49E30429-9BA6-8388-5B34-0D819B9DEECE}"/>
                </a:ext>
              </a:extLst>
            </p:cNvPr>
            <p:cNvSpPr/>
            <p:nvPr/>
          </p:nvSpPr>
          <p:spPr>
            <a:xfrm>
              <a:off x="5841913" y="5411229"/>
              <a:ext cx="3308152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850"/>
                </a:lnSpc>
                <a:buNone/>
              </a:pPr>
              <a:r>
                <a:rPr lang="en-US" sz="2000" b="1" dirty="0">
                  <a:solidFill>
                    <a:srgbClr val="E0D6DE"/>
                  </a:solidFill>
                  <a:latin typeface="Times New Roman" panose="02020603050405020304" pitchFamily="18" charset="0"/>
                  <a:ea typeface="Fira Sans" pitchFamily="34" charset="-122"/>
                  <a:cs typeface="Times New Roman" panose="02020603050405020304" pitchFamily="18" charset="0"/>
                </a:rPr>
                <a:t>Matches patterns in sequence.</a:t>
              </a:r>
              <a:endPara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9" name="Image 2" descr="preencoded.png">
              <a:extLst>
                <a:ext uri="{FF2B5EF4-FFF2-40B4-BE49-F238E27FC236}">
                  <a16:creationId xmlns:a16="http://schemas.microsoft.com/office/drawing/2014/main" id="{3C66AF78-C95E-7AC7-D068-0B4137A71F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433552" y="4905571"/>
              <a:ext cx="566976" cy="566976"/>
            </a:xfrm>
            <a:prstGeom prst="rect">
              <a:avLst/>
            </a:prstGeom>
          </p:spPr>
        </p:pic>
        <p:sp>
          <p:nvSpPr>
            <p:cNvPr id="20" name="Text 6">
              <a:extLst>
                <a:ext uri="{FF2B5EF4-FFF2-40B4-BE49-F238E27FC236}">
                  <a16:creationId xmlns:a16="http://schemas.microsoft.com/office/drawing/2014/main" id="{84A1F767-4DE0-2325-8FED-18665A0B9EBF}"/>
                </a:ext>
              </a:extLst>
            </p:cNvPr>
            <p:cNvSpPr/>
            <p:nvPr/>
          </p:nvSpPr>
          <p:spPr>
            <a:xfrm>
              <a:off x="10284016" y="4905571"/>
              <a:ext cx="2835235" cy="36957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750"/>
                </a:lnSpc>
                <a:buNone/>
              </a:pPr>
              <a:r>
                <a:rPr lang="en-US" sz="2000" b="1" dirty="0">
                  <a:solidFill>
                    <a:srgbClr val="E0D6DE"/>
                  </a:solidFill>
                  <a:latin typeface="Times New Roman" panose="02020603050405020304" pitchFamily="18" charset="0"/>
                  <a:ea typeface="Anton" pitchFamily="34" charset="-122"/>
                  <a:cs typeface="Times New Roman" panose="02020603050405020304" pitchFamily="18" charset="0"/>
                </a:rPr>
                <a:t>Kleene Star (</a:t>
              </a:r>
              <a:r>
                <a:rPr lang="en-US" sz="2000" b="1" dirty="0">
                  <a:solidFill>
                    <a:srgbClr val="E0D6DE"/>
                  </a:solidFill>
                  <a:highlight>
                    <a:srgbClr val="2C2C2C"/>
                  </a:highlight>
                  <a:latin typeface="Times New Roman" panose="02020603050405020304" pitchFamily="18" charset="0"/>
                  <a:ea typeface="Anton" pitchFamily="34" charset="-122"/>
                  <a:cs typeface="Times New Roman" panose="02020603050405020304" pitchFamily="18" charset="0"/>
                </a:rPr>
                <a:t>*</a:t>
              </a:r>
              <a:r>
                <a:rPr lang="en-US" sz="2000" b="1" dirty="0">
                  <a:solidFill>
                    <a:srgbClr val="E0D6DE"/>
                  </a:solidFill>
                  <a:latin typeface="Times New Roman" panose="02020603050405020304" pitchFamily="18" charset="0"/>
                  <a:ea typeface="Anton" pitchFamily="34" charset="-122"/>
                  <a:cs typeface="Times New Roman" panose="02020603050405020304" pitchFamily="18" charset="0"/>
                </a:rPr>
                <a:t>)</a:t>
              </a:r>
              <a:endPara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Text 7">
              <a:extLst>
                <a:ext uri="{FF2B5EF4-FFF2-40B4-BE49-F238E27FC236}">
                  <a16:creationId xmlns:a16="http://schemas.microsoft.com/office/drawing/2014/main" id="{0F528F33-311B-46D4-FF21-CFD6C1EF981C}"/>
                </a:ext>
              </a:extLst>
            </p:cNvPr>
            <p:cNvSpPr/>
            <p:nvPr/>
          </p:nvSpPr>
          <p:spPr>
            <a:xfrm>
              <a:off x="10284016" y="5411229"/>
              <a:ext cx="3308152" cy="725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850"/>
                </a:lnSpc>
                <a:buNone/>
              </a:pPr>
              <a:r>
                <a:rPr lang="en-US" sz="2000" b="1" dirty="0">
                  <a:solidFill>
                    <a:srgbClr val="E0D6DE"/>
                  </a:solidFill>
                  <a:latin typeface="Times New Roman" panose="02020603050405020304" pitchFamily="18" charset="0"/>
                  <a:ea typeface="Fira Sans" pitchFamily="34" charset="-122"/>
                  <a:cs typeface="Times New Roman" panose="02020603050405020304" pitchFamily="18" charset="0"/>
                </a:rPr>
                <a:t>Matches zero or more repetitions.</a:t>
              </a:r>
              <a:endPara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7181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75855-E04F-5753-A485-62BC44B41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Slide 2: Kleene’s Theorem.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E8BAA-E54D-4CCE-BDF6-844A3FB09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Kleene’s Theorem: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There is an FA for a language if and only if there is an RE for the language.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Regular language is one accepted by some FA or described by an RE.</a:t>
            </a:r>
          </a:p>
        </p:txBody>
      </p:sp>
    </p:spTree>
    <p:extLst>
      <p:ext uri="{BB962C8B-B14F-4D97-AF65-F5344CB8AC3E}">
        <p14:creationId xmlns:p14="http://schemas.microsoft.com/office/powerpoint/2010/main" val="3456900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38DFC-0566-B93F-CD33-84338FA49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Slide 3: Applications of 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6F3AD-7704-F16F-93CE-9195E246C4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Specify piece of programming language, e.g., real number. 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 allows automated production of tokenizer for identifying the pieces.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Complex search and replace. 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Many UNIX commands take regular expressions.</a:t>
            </a:r>
          </a:p>
        </p:txBody>
      </p:sp>
    </p:spTree>
    <p:extLst>
      <p:ext uri="{BB962C8B-B14F-4D97-AF65-F5344CB8AC3E}">
        <p14:creationId xmlns:p14="http://schemas.microsoft.com/office/powerpoint/2010/main" val="981696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151F3-5C1E-9065-F5D9-5C863FC2F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662" y="301389"/>
            <a:ext cx="10890929" cy="1207007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Slide 4: Definition of Regular Languages.</a:t>
            </a:r>
            <a:b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Makes a Language "Regular"?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E7999B8-9A63-D9B6-B048-DE473D7808C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40662" y="2232345"/>
            <a:ext cx="10890928" cy="44781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 the Chomsky Hierarchy, Regular Languages are the simplest class of languages.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Formal Definition: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 language is regular if it can be defined by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Regular Expression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or recognized by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Finite  Automaton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 Bound: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These languages require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finite memory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They cannot handle patterns that require counting to infinity (like nested parentheses).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Alphabet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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 finite set of symbols (e.g., {0, 1} or {a, b, c}).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Language (</a:t>
            </a:r>
            <a:r>
              <a:rPr kumimoji="0" lang="en-US" altLang="en-US" sz="2400" b="1" i="1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 set of strings formed from </a:t>
            </a:r>
            <a:r>
              <a:rPr lang="en-US" alt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.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4392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4952A-3D3D-F275-938E-B048DB34EF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9620" y="697117"/>
            <a:ext cx="10652760" cy="1154256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Slide 5: Finite Automata (DFA &amp; NFA)</a:t>
            </a:r>
            <a:b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Recognition Engine</a:t>
            </a:r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8693D8C-65A1-A05B-67F5-C8814F8243D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336123" y="2236828"/>
            <a:ext cx="10433338" cy="34317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prove a language is regular, we build a "machine" to accept it.</a:t>
            </a:r>
          </a:p>
          <a:p>
            <a:pPr lvl="1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DFA (Deterministic Finite Automata):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every state and input symbol, there is exactly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transition to a next state.</a:t>
            </a:r>
          </a:p>
          <a:p>
            <a:pPr lvl="1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NFA (Non-deterministic Finite Automata):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Can have multiple transitions for one symbol or "epsilon" 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moves (transitions without input).</a:t>
            </a:r>
          </a:p>
          <a:p>
            <a:pPr lvl="1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Equivalence: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Crucially, for every NFA, there exists an equivalent DFA. They both describe the same class of languages.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7185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4247B-C625-1E19-6D1C-9CD361237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417815"/>
            <a:ext cx="10890929" cy="1182781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Slide 6: Operations and Closure Properties</a:t>
            </a:r>
            <a:b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Building New Languages from Old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C4A05996-189A-D3AA-6D5A-C51B8131C199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 bwMode="auto">
              <a:xfrm>
                <a:off x="640080" y="1975790"/>
                <a:ext cx="10808208" cy="48815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lv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SzTx/>
                  <a:buNone/>
                </a:pP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Regular languages are "closed" under several operations.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4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sz="2400" b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en-US" sz="2400" b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4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sz="2400" b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en-US" sz="2400" b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en-US" sz="24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are regular, the result of these operations is also regular: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24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SzTx/>
                  <a:buFontTx/>
                  <a:buChar char="•"/>
                </a:pPr>
                <a:r>
                  <a:rPr kumimoji="0" lang="en-US" altLang="en-US" sz="24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Union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altLang="en-US" sz="2400" b="1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altLang="en-US" sz="2400" b="1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kumimoji="0" lang="en-US" altLang="en-US" sz="2400" b="1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kumimoji="0" lang="en-US" altLang="en-US" sz="2400" b="1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∪</m:t>
                    </m:r>
                    <m:sSub>
                      <m:sSubPr>
                        <m:ctrlPr>
                          <a:rPr kumimoji="0" lang="en-US" altLang="en-US" sz="2400" b="1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altLang="en-US" sz="2400" b="1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kumimoji="0" lang="en-US" altLang="en-US" sz="2400" b="1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US" altLang="en-US" sz="24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Strings in either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/>
                        </m:ctrlPr>
                      </m:sSubPr>
                      <m:e>
                        <m:sSub>
                          <m:sSubPr>
                            <m:ctrlPr>
                              <a:rPr lang="en-US" altLang="en-US" sz="2400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sz="2400" b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en-US" sz="2400" b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b>
                        <m:r>
                          <a:rPr lang="en-US" sz="2400" b="1"/>
                          <m:t>1</m:t>
                        </m:r>
                      </m:sub>
                    </m:sSub>
                  </m:oMath>
                </a14:m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4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sz="2400" b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en-US" sz="2400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None/>
                  <a:tabLst/>
                </a:pPr>
                <a:endParaRPr kumimoji="0" lang="en-US" altLang="en-US" sz="24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SzTx/>
                  <a:buFontTx/>
                  <a:buChar char="•"/>
                </a:pPr>
                <a:r>
                  <a:rPr kumimoji="0" lang="en-US" altLang="en-US" sz="24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Concatenation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4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sz="2400" b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en-US" sz="2400" b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en-US" sz="24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sz="2400" b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en-US" sz="2400" b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US" altLang="en-US" sz="24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Strings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4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sz="2400" b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en-US" sz="2400" b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followed by strings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4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sz="2400" b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en-US" sz="2400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None/>
                  <a:tabLst/>
                </a:pPr>
                <a:endParaRPr kumimoji="0" lang="en-US" altLang="en-US" sz="24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4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Kleene Star (</a:t>
                </a:r>
                <a:r>
                  <a:rPr kumimoji="0" lang="en-US" altLang="en-US" sz="2400" i="1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r>
                  <a:rPr kumimoji="0" lang="en-US" altLang="en-US" sz="24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*):</a:t>
                </a: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Zero or more repetitions of strings from $L$.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None/>
                  <a:tabLst/>
                </a:pPr>
                <a:endParaRPr kumimoji="0" lang="en-US" altLang="en-US" sz="24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4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Complement (</a:t>
                </a:r>
                <a:r>
                  <a:rPr lang="en-US" alt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r>
                  <a:rPr lang="en-US" alt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Symbol" panose="05050102010706020507" pitchFamily="18" charset="2"/>
                  </a:rPr>
                  <a:t></a:t>
                </a:r>
                <a:r>
                  <a:rPr kumimoji="0" lang="en-US" altLang="en-US" sz="24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All strings </a:t>
                </a:r>
                <a:r>
                  <a:rPr kumimoji="0" lang="en-US" altLang="en-US" sz="2400" b="0" i="1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not</a:t>
                </a: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in L.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None/>
                  <a:tabLst/>
                </a:pPr>
                <a:endParaRPr kumimoji="0" lang="en-US" altLang="en-US" sz="24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SzTx/>
                  <a:buFontTx/>
                  <a:buChar char="•"/>
                </a:pPr>
                <a:r>
                  <a:rPr kumimoji="0" lang="en-US" altLang="en-US" sz="24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Intersection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altLang="en-US" sz="2400" b="1" i="0" u="none" strike="noStrike" cap="none" normalizeH="0" baseline="0" dirty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altLang="en-US" sz="2400" b="1" i="0" u="none" strike="noStrike" cap="none" normalizeH="0" baseline="0" dirty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kumimoji="0" lang="en-US" altLang="en-US" sz="2400" b="1" i="0" u="none" strike="noStrike" cap="none" normalizeH="0" baseline="0" dirty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kumimoji="0" lang="en-US" altLang="en-US" sz="24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∩</m:t>
                    </m:r>
                    <m:sSub>
                      <m:sSubPr>
                        <m:ctrlPr>
                          <a:rPr kumimoji="0" lang="en-US" altLang="en-US" sz="2400" b="1" i="0" u="none" strike="noStrike" cap="none" normalizeH="0" baseline="0" dirty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altLang="en-US" sz="2400" b="1" i="0" u="none" strike="noStrike" cap="none" normalizeH="0" baseline="0" dirty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kumimoji="0" lang="en-US" altLang="en-US" sz="2400" b="1" i="0" u="none" strike="noStrike" cap="none" normalizeH="0" baseline="0" dirty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en-US" altLang="en-US" sz="24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Strings present in both.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24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C4A05996-189A-D3AA-6D5A-C51B8131C1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640080" y="1975790"/>
                <a:ext cx="10808208" cy="4881529"/>
              </a:xfrm>
              <a:prstGeom prst="rect">
                <a:avLst/>
              </a:prstGeom>
              <a:blipFill>
                <a:blip r:embed="rId2"/>
                <a:stretch>
                  <a:fillRect l="-846" t="-1498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2450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528D2-A0B9-F88C-CB07-B46D1DD63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5" y="1069849"/>
            <a:ext cx="10890929" cy="1097280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Slide 7: Regular Grammars</a:t>
            </a:r>
            <a:b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Generative View</a:t>
            </a:r>
            <a:b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0">
            <a:extLst>
              <a:ext uri="{FF2B5EF4-FFF2-40B4-BE49-F238E27FC236}">
                <a16:creationId xmlns:a16="http://schemas.microsoft.com/office/drawing/2014/main" id="{D6D26D63-EDD9-27E9-433D-0B8DD4495DB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0080" y="2546810"/>
            <a:ext cx="10890928" cy="37394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While Automata 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recognize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languages, Grammars 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generate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them. A language is regular if it has a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Right-Linear Grammar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Rules look like: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aB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alt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alt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 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Constraint: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You can only have one non-terminal symbol, and it must appear at the very end of the right side of the production rule.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3569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3A792-0FD8-77CF-0362-B395F60F4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5" y="327736"/>
            <a:ext cx="10890929" cy="1097280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Slide 8: The Pumping Lemma</a:t>
            </a:r>
            <a:b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Proving a Language is NOT Regular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8FD6D64F-EC2C-786E-690C-3CD524C99CE4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 bwMode="auto">
              <a:xfrm>
                <a:off x="650535" y="2025780"/>
                <a:ext cx="10775780" cy="405726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How do we know when a language is too complex for a Finite Automaton? We use the </a:t>
                </a:r>
                <a:r>
                  <a:rPr kumimoji="0" lang="en-US" altLang="en-US" sz="20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Pumping Lemma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0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The Concept: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If a language is regular, any sufficiently long string s in the language can be broken into three parts, s = </a:t>
                </a:r>
                <a:r>
                  <a:rPr kumimoji="0" lang="en-US" altLang="en-US" sz="2000" b="0" i="0" u="none" strike="noStrike" cap="none" normalizeH="0" baseline="0" dirty="0" err="1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xyz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such that x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altLang="en-US" sz="20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0" lang="en-US" altLang="en-US" sz="20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kumimoji="0" lang="en-US" altLang="en-US" sz="20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ⅈ</m:t>
                        </m:r>
                      </m:sup>
                    </m:sSup>
                  </m:oMath>
                </a14:m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</a:t>
                </a:r>
                <a:r>
                  <a:rPr lang="en-US" altLang="en-US" sz="20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also in the language for all </a:t>
                </a:r>
                <a:r>
                  <a:rPr kumimoji="0" lang="en-US" altLang="en-US" sz="2000" b="0" i="0" u="none" strike="noStrike" cap="none" normalizeH="0" baseline="0" dirty="0" err="1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≥ 0.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0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The "Pump":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You must be able to "pump" (repeat) the middle section y indefinitely without leaving the language.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SzTx/>
                  <a:buFontTx/>
                  <a:buChar char="•"/>
                </a:pPr>
                <a:r>
                  <a:rPr kumimoji="0" lang="en-US" altLang="en-US" sz="20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Classic Non-Regular Example: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solidFill>
                              <a:srgbClr val="E0D6DE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solidFill>
                              <a:srgbClr val="E0D6DE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pt-BR" sz="2000" i="1">
                            <a:solidFill>
                              <a:srgbClr val="E0D6DE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000" i="1" dirty="0">
                    <a:solidFill>
                      <a:srgbClr val="E0D6DE"/>
                    </a:solidFill>
                    <a:latin typeface="Fira Sans" pitchFamily="34" charset="0"/>
                    <a:ea typeface="Fira Sans" pitchFamily="34" charset="-122"/>
                    <a:cs typeface="Fira Sans" pitchFamily="34" charset="-120"/>
                  </a:rPr>
                  <a:t>= {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000" i="1">
                            <a:solidFill>
                              <a:srgbClr val="E0D6DE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000" i="1">
                            <a:solidFill>
                              <a:srgbClr val="E0D6DE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pt-BR" sz="2000" i="1">
                            <a:solidFill>
                              <a:srgbClr val="E0D6DE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pt-BR" sz="2000" i="1">
                            <a:solidFill>
                              <a:srgbClr val="E0D6DE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000" i="1">
                            <a:solidFill>
                              <a:srgbClr val="E0D6DE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rgbClr val="E0D6DE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pt-BR" sz="2000" i="1" dirty="0">
                    <a:solidFill>
                      <a:srgbClr val="E0D6DE"/>
                    </a:solidFill>
                    <a:latin typeface="Fira Sans" pitchFamily="34" charset="0"/>
                    <a:ea typeface="Fira Sans" pitchFamily="34" charset="-122"/>
                    <a:cs typeface="Fira Sans" pitchFamily="34" charset="-120"/>
                  </a:rPr>
                  <a:t> | n ≥ 0}</a:t>
                </a: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marR="0" lvl="1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Because a Finite Automaton has no "counter," it cannot remember exactly how many a's it saw to match them with the b's.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8FD6D64F-EC2C-786E-690C-3CD524C99C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650535" y="2025780"/>
                <a:ext cx="10775780" cy="4057265"/>
              </a:xfrm>
              <a:prstGeom prst="rect">
                <a:avLst/>
              </a:prstGeom>
              <a:blipFill>
                <a:blip r:embed="rId2"/>
                <a:stretch>
                  <a:fillRect l="-623" t="-1351" r="-1132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2478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D8071-566A-5D93-0D99-5E2B92411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099997"/>
            <a:ext cx="10890929" cy="1317278"/>
          </a:xfrm>
        </p:spPr>
        <p:txBody>
          <a:bodyPr>
            <a:norm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Slide 9: </a:t>
            </a: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r>
              <a:rPr lang="en-US" sz="4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NFA</a:t>
            </a:r>
            <a:b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Non-deterministic Finite Automata (NFA)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9ABB0-08CE-BFE7-E0AF-4E66EC6D3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536" y="2968994"/>
            <a:ext cx="10890928" cy="3305601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Unlike a DFA, where every input has a single, determined path, an NFA allows for multiple possibilities.</a:t>
            </a:r>
          </a:p>
          <a:p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Non-determinism: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For a given state and input symbol, the machine can move to 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zero, one, or multiple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states.</a:t>
            </a:r>
          </a:p>
          <a:p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Parallel Processing: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You can think of an NFA as exploring all possible paths simultaneously.</a:t>
            </a:r>
          </a:p>
          <a:p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Acceptance: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If </a:t>
            </a:r>
            <a:r>
              <a:rPr lang="en-US" sz="24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any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path leads to an accepting state after the input is consumed, the string is accepted.</a:t>
            </a:r>
          </a:p>
        </p:txBody>
      </p:sp>
    </p:spTree>
    <p:extLst>
      <p:ext uri="{BB962C8B-B14F-4D97-AF65-F5344CB8AC3E}">
        <p14:creationId xmlns:p14="http://schemas.microsoft.com/office/powerpoint/2010/main" val="31670600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88699-A2FD-1CD9-29DE-D39BEC445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5" y="484362"/>
            <a:ext cx="10890929" cy="1097280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Slide 10: Formal </a:t>
            </a:r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Definition</a:t>
            </a:r>
            <a:b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5-Tuple Definition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B560746B-BCD3-FE24-BF87-81B1CCB6F478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 bwMode="auto">
              <a:xfrm>
                <a:off x="650535" y="1639968"/>
                <a:ext cx="10890928" cy="521803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 NFA is mathematically defined by the same five components as a DFA, with one key difference in the transition function.</a:t>
                </a: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SzTx/>
                  <a:buNone/>
                </a:pP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 = (Q, </a:t>
                </a:r>
                <a:r>
                  <a:rPr lang="en-US" altLang="en-US" sz="2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Symbol" panose="05050102010706020507" pitchFamily="18" charset="2"/>
                  </a:rPr>
                  <a:t></a:t>
                </a: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Symbol" panose="05050102010706020507" pitchFamily="18" charset="2"/>
                  </a:rPr>
                  <a:t></a:t>
                </a: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en-US" altLang="en-US" sz="24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sz="24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en-US" sz="24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F)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24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4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</a:t>
                </a: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Finite set of states.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kumimoji="0" lang="en-US" altLang="en-US" sz="24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SzTx/>
                  <a:buFontTx/>
                  <a:buChar char="•"/>
                </a:pPr>
                <a:r>
                  <a:rPr lang="en-US" altLang="en-US" sz="2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Symbol" panose="05050102010706020507" pitchFamily="18" charset="2"/>
                  </a:rPr>
                  <a:t> </a:t>
                </a: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Finite set of input symbols (alphabet).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kumimoji="0" lang="en-US" altLang="en-US" sz="24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SzTx/>
                  <a:buFontTx/>
                  <a:buChar char="•"/>
                </a:pP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  <a:sym typeface="Symbol" panose="05050102010706020507" pitchFamily="18" charset="2"/>
                  </a:rPr>
                  <a:t></a:t>
                </a: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Transition Function </a:t>
                </a:r>
                <a:r>
                  <a:rPr lang="en-US" alt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Symbol" panose="05050102010706020507" pitchFamily="18" charset="2"/>
                  </a:rPr>
                  <a:t> </a:t>
                </a: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kumimoji="0" lang="en-US" altLang="en-US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𝑄</m:t>
                    </m:r>
                    <m:r>
                      <a:rPr kumimoji="0" lang="en-US" altLang="en-US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×</m:t>
                    </m:r>
                    <m:r>
                      <a:rPr kumimoji="0" lang="en-US" altLang="en-US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𝛴</m:t>
                    </m:r>
                    <m:r>
                      <a:rPr kumimoji="0" lang="en-US" altLang="en-US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a:rPr kumimoji="0" lang="en-US" altLang="en-US" sz="2400" b="0" i="1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</m:t>
                    </m:r>
                    <m:r>
                      <a:rPr kumimoji="0" lang="en-US" altLang="en-US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 </m:t>
                    </m:r>
                    <m:sSup>
                      <m:sSupPr>
                        <m:ctrlPr>
                          <a:rPr kumimoji="0" lang="en-US" alt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0" lang="en-US" alt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kumimoji="0" lang="en-US" alt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(The output is a </a:t>
                </a:r>
                <a:r>
                  <a:rPr kumimoji="0" lang="en-US" altLang="en-US" sz="24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set</a:t>
                </a: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of states).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kumimoji="0" lang="en-US" altLang="en-US" sz="24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SzTx/>
                  <a:buFontTx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alt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alt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kumimoji="0" lang="en-US" alt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Start state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sz="24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en-US" sz="24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kumimoji="0" lang="en-US" altLang="en-US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∈ </m:t>
                    </m:r>
                  </m:oMath>
                </a14:m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Q).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kumimoji="0" lang="en-US" altLang="en-US" sz="24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en-US" sz="24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Set of accepting/final states (F </a:t>
                </a: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  <a:sym typeface="Symbol" panose="05050102010706020507" pitchFamily="18" charset="2"/>
                  </a:rPr>
                  <a:t></a:t>
                </a:r>
                <a:r>
                  <a:rPr kumimoji="0" lang="en-US" altLang="en-US" sz="24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Q).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24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B560746B-BCD3-FE24-BF87-81B1CCB6F4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650535" y="1639968"/>
                <a:ext cx="10890928" cy="5218032"/>
              </a:xfrm>
              <a:prstGeom prst="rect">
                <a:avLst/>
              </a:prstGeom>
              <a:blipFill>
                <a:blip r:embed="rId2"/>
                <a:stretch>
                  <a:fillRect l="-896" t="-1285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56987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C901A245-117C-7808-BA48-F672029B0A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40080" y="1089662"/>
            <a:ext cx="9273372" cy="1154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Slide 11: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-Transitions (The Secret Sauce)</a:t>
            </a:r>
          </a:p>
          <a:p>
            <a:pPr lvl="0" eaLnBrk="0" fontAlgn="base" hangingPunct="0">
              <a:spcAft>
                <a:spcPct val="0"/>
              </a:spcAft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Moving Without Input (</a:t>
            </a:r>
            <a:r>
              <a:rPr lang="en-US" alt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 </a:t>
            </a: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-NFA)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E0EB68B-32C8-4F9C-24A3-05FC6E6091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0080" y="2436658"/>
            <a:ext cx="10739120" cy="4355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One of the most powerful features of an NFA is the </a:t>
            </a:r>
            <a:r>
              <a:rPr lang="en-US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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(epsilon) transition.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Definition: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 transition that occurs without consuming any input symbol.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It allows the machine to change states "for free.“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Usage: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Extremely helpful when combining two different machines (like in the Union or Kleene Star operations for Regular Languages).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1436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A7C8-3C3D-C74B-D1C5-A1F0D0D62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792035"/>
            <a:ext cx="10178812" cy="1074470"/>
          </a:xfrm>
        </p:spPr>
        <p:txBody>
          <a:bodyPr vert="horz" lIns="91440" tIns="45720" rIns="91440" bIns="45720" rtlCol="0" anchor="b">
            <a:noAutofit/>
          </a:bodyPr>
          <a:lstStyle/>
          <a:p>
            <a:pPr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Slide 12: NFA vs. DFA</a:t>
            </a:r>
            <a:b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Comparing the Automata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D3A9075-53DD-D6E2-E4C9-1FD8723F6DB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37601631"/>
              </p:ext>
            </p:extLst>
          </p:nvPr>
        </p:nvGraphicFramePr>
        <p:xfrm>
          <a:off x="2657855" y="2401982"/>
          <a:ext cx="6876289" cy="3219896"/>
        </p:xfrm>
        <a:graphic>
          <a:graphicData uri="http://schemas.openxmlformats.org/drawingml/2006/table">
            <a:tbl>
              <a:tblPr>
                <a:solidFill>
                  <a:srgbClr val="F2F2F2">
                    <a:alpha val="30196"/>
                  </a:srgbClr>
                </a:solidFill>
              </a:tblPr>
              <a:tblGrid>
                <a:gridCol w="1744267">
                  <a:extLst>
                    <a:ext uri="{9D8B030D-6E8A-4147-A177-3AD203B41FA5}">
                      <a16:colId xmlns:a16="http://schemas.microsoft.com/office/drawing/2014/main" val="3245321455"/>
                    </a:ext>
                  </a:extLst>
                </a:gridCol>
                <a:gridCol w="2566998">
                  <a:extLst>
                    <a:ext uri="{9D8B030D-6E8A-4147-A177-3AD203B41FA5}">
                      <a16:colId xmlns:a16="http://schemas.microsoft.com/office/drawing/2014/main" val="3782168088"/>
                    </a:ext>
                  </a:extLst>
                </a:gridCol>
                <a:gridCol w="2565024">
                  <a:extLst>
                    <a:ext uri="{9D8B030D-6E8A-4147-A177-3AD203B41FA5}">
                      <a16:colId xmlns:a16="http://schemas.microsoft.com/office/drawing/2014/main" val="1421169412"/>
                    </a:ext>
                  </a:extLst>
                </a:gridCol>
              </a:tblGrid>
              <a:tr h="53791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700" b="1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Feature</a:t>
                      </a:r>
                      <a:endParaRPr lang="en-US" sz="17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47736" marR="142054" marT="113643" marB="113643" anchor="ctr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chemeClr val="bg2">
                        <a:alpha val="8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7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DFA</a:t>
                      </a:r>
                      <a:endParaRPr lang="en-US" sz="17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47736" marR="142054" marT="113643" marB="113643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chemeClr val="bg2">
                        <a:alpha val="8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7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NFA</a:t>
                      </a:r>
                      <a:endParaRPr lang="en-US" sz="17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47736" marR="142054" marT="113643" marB="113643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chemeClr val="bg2">
                        <a:alpha val="8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588165"/>
                  </a:ext>
                </a:extLst>
              </a:tr>
              <a:tr h="53791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7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Transitions</a:t>
                      </a:r>
                      <a:endParaRPr lang="en-US" sz="17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47736" marR="142054" marT="113643" marB="113643" anchor="ctr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chemeClr val="bg2">
                        <a:alpha val="8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7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Exactly one per symbol</a:t>
                      </a:r>
                    </a:p>
                  </a:txBody>
                  <a:tcPr marL="147736" marR="142054" marT="113643" marB="113643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chemeClr val="bg2">
                        <a:alpha val="8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7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Zero, one, or many</a:t>
                      </a:r>
                    </a:p>
                  </a:txBody>
                  <a:tcPr marL="147736" marR="142054" marT="113643" marB="113643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chemeClr val="bg2">
                        <a:alpha val="8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7488423"/>
                  </a:ext>
                </a:extLst>
              </a:tr>
              <a:tr h="80308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7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Ease of Design</a:t>
                      </a:r>
                      <a:endParaRPr lang="en-US" sz="17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47736" marR="142054" marT="113643" marB="113643" anchor="ctr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chemeClr val="bg2">
                        <a:alpha val="8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7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Harder for complex patterns</a:t>
                      </a:r>
                    </a:p>
                  </a:txBody>
                  <a:tcPr marL="147736" marR="142054" marT="113643" marB="113643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chemeClr val="bg2">
                        <a:alpha val="8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7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Much easier/intuitive</a:t>
                      </a:r>
                    </a:p>
                  </a:txBody>
                  <a:tcPr marL="147736" marR="142054" marT="113643" marB="113643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chemeClr val="bg2">
                        <a:alpha val="8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215914"/>
                  </a:ext>
                </a:extLst>
              </a:tr>
              <a:tr h="80308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7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Dead Ends</a:t>
                      </a:r>
                      <a:endParaRPr lang="en-US" sz="17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47736" marR="142054" marT="113643" marB="113643" anchor="ctr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chemeClr val="bg2">
                        <a:alpha val="8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7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Every state must have a path</a:t>
                      </a:r>
                    </a:p>
                  </a:txBody>
                  <a:tcPr marL="147736" marR="142054" marT="113643" marB="113643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chemeClr val="bg2">
                        <a:alpha val="8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7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Can just "die" if no path exists</a:t>
                      </a:r>
                    </a:p>
                  </a:txBody>
                  <a:tcPr marL="147736" marR="142054" marT="113643" marB="113643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B>
                    <a:solidFill>
                      <a:schemeClr val="bg2">
                        <a:alpha val="8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280582"/>
                  </a:ext>
                </a:extLst>
              </a:tr>
              <a:tr h="53791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700" b="1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Power</a:t>
                      </a:r>
                      <a:endParaRPr lang="en-US" sz="17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47736" marR="142054" marT="113643" marB="113643" anchor="ctr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chemeClr val="bg2">
                        <a:alpha val="8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7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Equal to NFA</a:t>
                      </a:r>
                    </a:p>
                  </a:txBody>
                  <a:tcPr marL="147736" marR="142054" marT="113643" marB="113643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chemeClr val="bg2">
                        <a:alpha val="8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7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Equal to DFA</a:t>
                      </a:r>
                    </a:p>
                  </a:txBody>
                  <a:tcPr marL="147736" marR="142054" marT="113643" marB="113643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chemeClr val="bg2">
                        <a:alpha val="8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0924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2840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2C208-83A3-11CB-83E0-FE6D9C2F2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8766"/>
            <a:ext cx="10515600" cy="1618260"/>
          </a:xfrm>
        </p:spPr>
        <p:txBody>
          <a:bodyPr>
            <a:norm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Slide 13: Practical Applications</a:t>
            </a:r>
            <a:b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Do We Use NFA?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BB2C7-3B4A-8986-16B6-3106C872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17693"/>
            <a:ext cx="10515600" cy="32352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your CSE studies and web development career, NFAs appear more often than you think:</a:t>
            </a:r>
          </a:p>
          <a:p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Regex Engines: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Many modern regex engines (like the one in JavaScript/Node.js) use NFA-based logic to backtrack and find matches.</a:t>
            </a:r>
          </a:p>
          <a:p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Compiler Design: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NFAs are used in the Lexical Analysis phase to convert source code into tokens.</a:t>
            </a:r>
          </a:p>
          <a:p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Simplifying Logic: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It is often 10x easier to draw an NFA for a language (like "strings containing 'abb'") than it is to draw a DFA.</a:t>
            </a:r>
          </a:p>
        </p:txBody>
      </p:sp>
    </p:spTree>
    <p:extLst>
      <p:ext uri="{BB962C8B-B14F-4D97-AF65-F5344CB8AC3E}">
        <p14:creationId xmlns:p14="http://schemas.microsoft.com/office/powerpoint/2010/main" val="11786489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DF1F9-E7B4-F80C-8D36-7C6D9FF62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171" y="566057"/>
            <a:ext cx="9583057" cy="3570514"/>
          </a:xfrm>
        </p:spPr>
        <p:txBody>
          <a:bodyPr>
            <a:noAutofit/>
          </a:bodyPr>
          <a:lstStyle/>
          <a:p>
            <a:pPr>
              <a:lnSpc>
                <a:spcPts val="9311"/>
              </a:lnSpc>
            </a:pPr>
            <a:r>
              <a:rPr lang="en-US" sz="9600" b="1" spc="-300" dirty="0">
                <a:solidFill>
                  <a:srgbClr val="FFFFFF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END</a:t>
            </a:r>
            <a:br>
              <a:rPr lang="en-US" sz="9600" b="1" spc="-300" dirty="0">
                <a:solidFill>
                  <a:srgbClr val="FFFFFF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</a:br>
            <a:r>
              <a:rPr lang="en-US" sz="9600" b="1" spc="-300" dirty="0">
                <a:solidFill>
                  <a:srgbClr val="FFFFFF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OF</a:t>
            </a:r>
            <a:br>
              <a:rPr lang="en-US" sz="9600" b="1" spc="-300" dirty="0">
                <a:solidFill>
                  <a:srgbClr val="FFFFFF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</a:br>
            <a:r>
              <a:rPr lang="en-US" sz="9600" b="1" spc="-300" dirty="0">
                <a:solidFill>
                  <a:srgbClr val="FFFFFF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PRESENTATION</a:t>
            </a:r>
            <a:endParaRPr lang="en-US" sz="9600" spc="-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B0CDD0-1631-E5B0-E101-8FF48CA8CA5E}"/>
              </a:ext>
            </a:extLst>
          </p:cNvPr>
          <p:cNvSpPr txBox="1"/>
          <p:nvPr/>
        </p:nvSpPr>
        <p:spPr>
          <a:xfrm>
            <a:off x="872722" y="4136571"/>
            <a:ext cx="400407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spc="-179" dirty="0">
                <a:solidFill>
                  <a:srgbClr val="FFFFFF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Slide: 14</a:t>
            </a:r>
          </a:p>
          <a:p>
            <a:endParaRPr 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BCC8FE-E23D-241A-E7CD-9C3F6CE85917}"/>
              </a:ext>
            </a:extLst>
          </p:cNvPr>
          <p:cNvSpPr txBox="1"/>
          <p:nvPr/>
        </p:nvSpPr>
        <p:spPr>
          <a:xfrm>
            <a:off x="809171" y="4972186"/>
            <a:ext cx="953344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spc="-340" dirty="0">
                <a:solidFill>
                  <a:srgbClr val="FFFFFF"/>
                </a:solidFill>
                <a:latin typeface="Times New Roman" panose="02020603050405020304" pitchFamily="18" charset="0"/>
                <a:ea typeface="Times New Roman MT Condensed Bold"/>
                <a:cs typeface="Times New Roman" panose="02020603050405020304" pitchFamily="18" charset="0"/>
                <a:sym typeface="Times New Roman MT Condensed Bold"/>
              </a:rPr>
              <a:t>Thank you all for your attention </a:t>
            </a:r>
          </a:p>
          <a:p>
            <a:endParaRPr lang="en-US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7591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132</TotalTime>
  <Words>1208</Words>
  <Application>Microsoft Office PowerPoint</Application>
  <PresentationFormat>Widescreen</PresentationFormat>
  <Paragraphs>123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Fira Sans</vt:lpstr>
      <vt:lpstr>Google Sans Text</vt:lpstr>
      <vt:lpstr>Times New Roman</vt:lpstr>
      <vt:lpstr>Office Theme</vt:lpstr>
      <vt:lpstr>Regular Expressions, Properties of Regular Languages, NFA </vt:lpstr>
      <vt:lpstr>Slide 1: Definition of Regular Expression.  A regular expression describes a language using three operations.</vt:lpstr>
      <vt:lpstr>Slide 2: Kleene’s Theorem.</vt:lpstr>
      <vt:lpstr>Slide 3: Applications of REs</vt:lpstr>
      <vt:lpstr>Slide 4: Definition of Regular Languages. What Makes a Language "Regular"?</vt:lpstr>
      <vt:lpstr>Slide 5: Finite Automata (DFA &amp; NFA) The Recognition Engine</vt:lpstr>
      <vt:lpstr>Slide 6: Operations and Closure Properties Building New Languages from Old</vt:lpstr>
      <vt:lpstr>Slide 7: Regular Grammars The Generative View </vt:lpstr>
      <vt:lpstr>Slide 8: The Pumping Lemma Proving a Language is NOT Regular</vt:lpstr>
      <vt:lpstr>Slide 9: Introduction to NFA Non-deterministic Finite Automata (NFA)</vt:lpstr>
      <vt:lpstr>Slide 10: Formal Definition The 5-Tuple Definition</vt:lpstr>
      <vt:lpstr>Slide 11: -Transitions (The Secret Sauce) Moving Without Input ( -NFA)</vt:lpstr>
      <vt:lpstr>Slide 12: NFA vs. DFA Comparing the Automata</vt:lpstr>
      <vt:lpstr>Slide 13: Practical Applications Why Do We Use NFA?</vt:lpstr>
      <vt:lpstr>END OF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Adi Tya</dc:creator>
  <cp:lastModifiedBy>Adi Tya</cp:lastModifiedBy>
  <cp:revision>1</cp:revision>
  <dcterms:created xsi:type="dcterms:W3CDTF">2026-02-01T10:01:41Z</dcterms:created>
  <dcterms:modified xsi:type="dcterms:W3CDTF">2026-02-01T12:13:43Z</dcterms:modified>
</cp:coreProperties>
</file>